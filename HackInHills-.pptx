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scadia Code SemiBold" panose="020B0609020000020004" pitchFamily="49" charset="0"/>
      <p:bold r:id="rId10"/>
      <p:boldItalic r:id="rId11"/>
    </p:embeddedFont>
    <p:embeddedFont>
      <p:font typeface="Montserra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0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066800" y="4096298"/>
            <a:ext cx="6354937" cy="128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72"/>
              </a:lnSpc>
            </a:pPr>
            <a:r>
              <a:rPr lang="en-US" sz="6054" b="1" dirty="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8678" y="5234149"/>
            <a:ext cx="17512122" cy="4756623"/>
          </a:xfrm>
          <a:prstGeom prst="rect">
            <a:avLst/>
          </a:prstGeom>
          <a:solidFill>
            <a:srgbClr val="F4F7FC"/>
          </a:solidFill>
          <a:ln w="15240">
            <a:solidFill>
              <a:srgbClr val="DCE4F2"/>
            </a:solidFill>
          </a:ln>
        </p:spPr>
        <p:txBody>
          <a:bodyPr wrap="square" lIns="256032" tIns="137160" rIns="256032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202A3A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202A3A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202A3A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202A3A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lang="en-US" dirty="0"/>
          </a:p>
          <a:p>
            <a:pPr algn="l">
              <a:lnSpc>
                <a:spcPct val="112000"/>
              </a:lnSpc>
              <a:spcAft>
                <a:spcPts val="600"/>
              </a:spcAft>
              <a:defRPr sz="1500">
                <a:solidFill>
                  <a:srgbClr val="526178"/>
                </a:solidFill>
                <a:latin typeface="Aptos"/>
              </a:defRPr>
            </a:pPr>
            <a:endParaRPr dirty="0"/>
          </a:p>
        </p:txBody>
      </p:sp>
      <p:grpSp>
        <p:nvGrpSpPr>
          <p:cNvPr id="4" name="Group 4"/>
          <p:cNvGrpSpPr/>
          <p:nvPr/>
        </p:nvGrpSpPr>
        <p:grpSpPr>
          <a:xfrm rot="-5400000">
            <a:off x="7123100" y="-7111203"/>
            <a:ext cx="4088378" cy="18326624"/>
            <a:chOff x="0" y="0"/>
            <a:chExt cx="5451170" cy="244354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51221" cy="24435563"/>
            </a:xfrm>
            <a:custGeom>
              <a:avLst/>
              <a:gdLst/>
              <a:ahLst/>
              <a:cxnLst/>
              <a:rect l="l" t="t" r="r" b="b"/>
              <a:pathLst>
                <a:path w="5451221" h="24435563">
                  <a:moveTo>
                    <a:pt x="0" y="0"/>
                  </a:moveTo>
                  <a:lnTo>
                    <a:pt x="5451221" y="0"/>
                  </a:lnTo>
                  <a:lnTo>
                    <a:pt x="5451221" y="24435563"/>
                  </a:lnTo>
                  <a:lnTo>
                    <a:pt x="0" y="2443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248" r="-3687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18678" y="296228"/>
            <a:ext cx="7240343" cy="791928"/>
            <a:chOff x="0" y="0"/>
            <a:chExt cx="9653791" cy="10559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53778" cy="1055878"/>
            </a:xfrm>
            <a:custGeom>
              <a:avLst/>
              <a:gdLst/>
              <a:ahLst/>
              <a:cxnLst/>
              <a:rect l="l" t="t" r="r" b="b"/>
              <a:pathLst>
                <a:path w="9653778" h="1055878">
                  <a:moveTo>
                    <a:pt x="0" y="0"/>
                  </a:moveTo>
                  <a:lnTo>
                    <a:pt x="9653778" y="0"/>
                  </a:lnTo>
                  <a:lnTo>
                    <a:pt x="9653778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520574" y="296228"/>
            <a:ext cx="5599605" cy="791928"/>
            <a:chOff x="0" y="0"/>
            <a:chExt cx="7466140" cy="10559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66076" cy="1055878"/>
            </a:xfrm>
            <a:custGeom>
              <a:avLst/>
              <a:gdLst/>
              <a:ahLst/>
              <a:cxnLst/>
              <a:rect l="l" t="t" r="r" b="b"/>
              <a:pathLst>
                <a:path w="7466076" h="1055878">
                  <a:moveTo>
                    <a:pt x="0" y="0"/>
                  </a:moveTo>
                  <a:lnTo>
                    <a:pt x="7466076" y="0"/>
                  </a:lnTo>
                  <a:lnTo>
                    <a:pt x="7466076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2"/>
              </a:stretch>
            </a:blipFill>
          </p:spPr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806430-78D6-EE6C-51B6-08D19E7DEFC5}"/>
              </a:ext>
            </a:extLst>
          </p:cNvPr>
          <p:cNvSpPr/>
          <p:nvPr/>
        </p:nvSpPr>
        <p:spPr>
          <a:xfrm>
            <a:off x="9527996" y="5740400"/>
            <a:ext cx="7848600" cy="3962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9184" tIns="246888" rIns="256032" bIns="164592" rtlCol="0" anchor="t"/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82543"/>
                </a:solidFill>
                <a:latin typeface="Aptos"/>
              </a:rPr>
              <a:t>Likhitha</a:t>
            </a:r>
            <a:endParaRPr lang="en-US"/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5267C9"/>
                </a:solidFill>
                <a:latin typeface="Aptos"/>
              </a:rPr>
              <a:t>Security, DevOps &amp; Sandbox Engineer</a:t>
            </a:r>
          </a:p>
          <a:p>
            <a:pPr>
              <a:spcAft>
                <a:spcPts val="800"/>
              </a:spcAft>
            </a:pPr>
            <a:r>
              <a:rPr sz="1220" b="0">
                <a:solidFill>
                  <a:srgbClr val="182543"/>
                </a:solidFill>
                <a:latin typeface="Aptos"/>
              </a:rPr>
              <a:t>01  Docker sandboxing and red/blue/LLM networks</a:t>
            </a:r>
          </a:p>
          <a:p>
            <a:pPr>
              <a:spcAft>
                <a:spcPts val="800"/>
              </a:spcAft>
            </a:pPr>
            <a:r>
              <a:rPr sz="1220" b="0">
                <a:solidFill>
                  <a:srgbClr val="182543"/>
                </a:solidFill>
                <a:latin typeface="Aptos"/>
              </a:rPr>
              <a:t>02  Stateless sessions and attention KV-cache purge</a:t>
            </a:r>
          </a:p>
          <a:p>
            <a:pPr>
              <a:spcAft>
                <a:spcPts val="800"/>
              </a:spcAft>
            </a:pPr>
            <a:r>
              <a:rPr sz="1220" b="0">
                <a:solidFill>
                  <a:srgbClr val="182543"/>
                </a:solidFill>
                <a:latin typeface="Aptos"/>
              </a:rPr>
              <a:t>03  Adversarial test harness and boundary validation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B56A0A-1B20-3725-5672-93D640D12A9E}"/>
              </a:ext>
            </a:extLst>
          </p:cNvPr>
          <p:cNvSpPr/>
          <p:nvPr/>
        </p:nvSpPr>
        <p:spPr>
          <a:xfrm>
            <a:off x="1005387" y="5740400"/>
            <a:ext cx="7848600" cy="3962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9184" tIns="246888" rIns="256032" bIns="164592" rtlCol="0" anchor="t"/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82543"/>
                </a:solidFill>
                <a:latin typeface="Aptos"/>
              </a:rPr>
              <a:t>U Thanushree</a:t>
            </a:r>
            <a:endParaRPr lang="en-US"/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5267C9"/>
                </a:solidFill>
                <a:latin typeface="Aptos"/>
              </a:rPr>
              <a:t>Full-Stack &amp; System Architect</a:t>
            </a:r>
          </a:p>
          <a:p>
            <a:pPr>
              <a:spcAft>
                <a:spcPts val="800"/>
              </a:spcAft>
            </a:pPr>
            <a:r>
              <a:rPr sz="1220" b="0">
                <a:solidFill>
                  <a:srgbClr val="182543"/>
                </a:solidFill>
                <a:latin typeface="Aptos"/>
              </a:rPr>
              <a:t>01  FastAPI orchestrator and zero-trust broker</a:t>
            </a:r>
          </a:p>
          <a:p>
            <a:pPr>
              <a:spcAft>
                <a:spcPts val="800"/>
              </a:spcAft>
            </a:pPr>
            <a:r>
              <a:rPr sz="1220" b="0">
                <a:solidFill>
                  <a:srgbClr val="182543"/>
                </a:solidFill>
                <a:latin typeface="Aptos"/>
              </a:rPr>
              <a:t>02  SHA-256 ledger and forensic verification</a:t>
            </a:r>
          </a:p>
          <a:p>
            <a:pPr>
              <a:spcAft>
                <a:spcPts val="800"/>
              </a:spcAft>
            </a:pPr>
            <a:r>
              <a:rPr sz="1220" b="0">
                <a:solidFill>
                  <a:srgbClr val="182543"/>
                </a:solidFill>
                <a:latin typeface="Aptos"/>
              </a:rPr>
              <a:t>03  Dashboard and real-time security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370832"/>
            <a:ext cx="6720840" cy="749808"/>
          </a:xfrm>
          <a:prstGeom prst="roundRect">
            <a:avLst/>
          </a:prstGeom>
          <a:solidFill>
            <a:srgbClr val="182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0" rIns="164592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SealedBid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925" y="1858956"/>
            <a:ext cx="8601075" cy="67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09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&amp; THEME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2395728"/>
            <a:ext cx="7955279" cy="2560320"/>
          </a:xfrm>
          <a:prstGeom prst="rect">
            <a:avLst/>
          </a:prstGeom>
          <a:solidFill>
            <a:srgbClr val="FFF0F1"/>
          </a:solidFill>
          <a:ln w="15240">
            <a:solidFill>
              <a:srgbClr val="F1C7CC"/>
            </a:solidFill>
          </a:ln>
        </p:spPr>
        <p:txBody>
          <a:bodyPr wrap="square" lIns="256032" tIns="137160" rIns="256032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2A99B"/>
                </a:solidFill>
                <a:latin typeface="Aptos"/>
              </a:defRPr>
            </a:pPr>
            <a:r>
              <a:t>THE RISK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900" b="1">
                <a:solidFill>
                  <a:srgbClr val="202A3A"/>
                </a:solidFill>
                <a:latin typeface="Aptos"/>
              </a:defRPr>
            </a:pPr>
            <a:r>
              <a:t>Shared AI testing can expose prompts, sensitive data, and proprietary defenses.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600">
                <a:solidFill>
                  <a:srgbClr val="526178"/>
                </a:solidFill>
                <a:latin typeface="Aptos"/>
              </a:defRPr>
            </a:pPr>
            <a:r>
              <a:t>Residual state and leakage can contaminate evaluation outcomes.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72600" y="2395728"/>
            <a:ext cx="7955279" cy="2560320"/>
          </a:xfrm>
          <a:prstGeom prst="rect">
            <a:avLst/>
          </a:prstGeom>
          <a:solidFill>
            <a:srgbClr val="E8F8F5"/>
          </a:solidFill>
          <a:ln w="15240">
            <a:solidFill>
              <a:srgbClr val="B9E8DE"/>
            </a:solidFill>
          </a:ln>
        </p:spPr>
        <p:txBody>
          <a:bodyPr wrap="square" lIns="256032" tIns="137160" rIns="256032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2A99B"/>
                </a:solidFill>
                <a:latin typeface="Aptos"/>
              </a:defRPr>
            </a:pPr>
            <a:r>
              <a:t>SealedBid APPROACH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900" b="1">
                <a:solidFill>
                  <a:srgbClr val="202A3A"/>
                </a:solidFill>
                <a:latin typeface="Aptos"/>
              </a:defRPr>
            </a:pPr>
            <a:r>
              <a:t>Separate Red Team, Blue Team, and model workloads behind a policy-controlled broker.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600">
                <a:solidFill>
                  <a:srgbClr val="526178"/>
                </a:solidFill>
                <a:latin typeface="Aptos"/>
              </a:defRPr>
            </a:pPr>
            <a:r>
              <a:t>Problem Statement 04: secure, auditable multi-tenant AI safety testing.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1205513"/>
            <a:chOff x="0" y="0"/>
            <a:chExt cx="24384000" cy="1607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607312"/>
            </a:xfrm>
            <a:custGeom>
              <a:avLst/>
              <a:gdLst/>
              <a:ahLst/>
              <a:cxnLst/>
              <a:rect l="l" t="t" r="r" b="b"/>
              <a:pathLst>
                <a:path w="24384000" h="1607312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</p:sp>
      </p:grpSp>
      <p:sp>
        <p:nvSpPr>
          <p:cNvPr id="7" name="Rounded Rectangle 6"/>
          <p:cNvSpPr/>
          <p:nvPr/>
        </p:nvSpPr>
        <p:spPr>
          <a:xfrm>
            <a:off x="685800" y="5138928"/>
            <a:ext cx="16642080" cy="822960"/>
          </a:xfrm>
          <a:prstGeom prst="roundRect">
            <a:avLst/>
          </a:prstGeom>
          <a:solidFill>
            <a:srgbClr val="182543"/>
          </a:solidFill>
          <a:ln w="15240">
            <a:solidFill>
              <a:srgbClr val="18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THREE PROTECTED BOUNDARIES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Private prompts  |  defense logic  |  session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656832"/>
            <a:ext cx="16916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738A"/>
                </a:solidFill>
                <a:latin typeface="Aptos"/>
              </a:rPr>
              <a:t>SECURE EVALUATION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7040880"/>
            <a:ext cx="5120640" cy="1508760"/>
          </a:xfrm>
          <a:prstGeom prst="round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D95D69"/>
                </a:solidFill>
                <a:latin typeface="Aptos"/>
              </a:rPr>
              <a:t>ISOLATE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Keep Red Team, Blue Team, and model state in separate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7040880"/>
            <a:ext cx="5120640" cy="150876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7957B5"/>
                </a:solidFill>
                <a:latin typeface="Aptos"/>
              </a:rPr>
              <a:t>CONTROL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Route each evaluation through the policy-controlled broker.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508992" y="7040880"/>
            <a:ext cx="5120640" cy="15087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18C7B"/>
                </a:solidFill>
                <a:latin typeface="Aptos"/>
              </a:rPr>
              <a:t>VERIFY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Capture a tamper-evident record of the evaluation outcome.</a:t>
            </a:r>
          </a:p>
        </p:txBody>
      </p:sp>
      <p:sp>
        <p:nvSpPr>
          <p:cNvPr id="12" name="Chevron 11"/>
          <p:cNvSpPr/>
          <p:nvPr/>
        </p:nvSpPr>
        <p:spPr>
          <a:xfrm>
            <a:off x="5998464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11923776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4133" y="1819646"/>
            <a:ext cx="2771889" cy="1216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09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  <a:p>
            <a:pPr algn="ctr">
              <a:lnSpc>
                <a:spcPts val="2352"/>
              </a:lnSpc>
            </a:pPr>
            <a:endParaRPr lang="en-US" sz="309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31520" y="1536192"/>
            <a:ext cx="16642080" cy="1097280"/>
          </a:xfrm>
          <a:prstGeom prst="rect">
            <a:avLst/>
          </a:prstGeom>
          <a:solidFill>
            <a:srgbClr val="F3EEFF"/>
          </a:solidFill>
          <a:ln w="15240">
            <a:solidFill>
              <a:srgbClr val="DDD0FA"/>
            </a:solidFill>
          </a:ln>
        </p:spPr>
        <p:txBody>
          <a:bodyPr wrap="square" lIns="274320" tIns="137160" rIns="274320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202A3A"/>
                </a:solidFill>
                <a:latin typeface="Aptos"/>
              </a:defRPr>
            </a:pPr>
            <a:r>
              <a:t>SealedBid coordinates adversarial tests across isolated Red Team, Blue Team, and client-model environments.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205513"/>
            <a:chOff x="0" y="0"/>
            <a:chExt cx="24384000" cy="1607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607312"/>
            </a:xfrm>
            <a:custGeom>
              <a:avLst/>
              <a:gdLst/>
              <a:ahLst/>
              <a:cxnLst/>
              <a:rect l="l" t="t" r="r" b="b"/>
              <a:pathLst>
                <a:path w="24384000" h="1607312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731520" y="2926080"/>
            <a:ext cx="5029200" cy="1874519"/>
          </a:xfrm>
          <a:prstGeom prst="roundRect">
            <a:avLst/>
          </a:prstGeom>
          <a:solidFill>
            <a:srgbClr val="FFF0F1"/>
          </a:solidFill>
          <a:ln w="15240">
            <a:solidFill>
              <a:srgbClr val="E85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E85D68"/>
                </a:solidFill>
                <a:latin typeface="Aptos"/>
              </a:defRPr>
            </a:pPr>
            <a:r>
              <a:t>01  RED TEAM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Attack scenarios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Generate controlled adversarial prompts without exposing Blue Team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926080"/>
            <a:ext cx="5029200" cy="1874519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7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4F70E8"/>
                </a:solidFill>
                <a:latin typeface="Aptos"/>
              </a:defRPr>
            </a:pPr>
            <a:r>
              <a:t>02  BLUE TEAM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Guardrails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Evaluate threats without revealing proprietary defense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95760" y="2926080"/>
            <a:ext cx="5029200" cy="1874519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2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12A99B"/>
                </a:solidFill>
                <a:latin typeface="Aptos"/>
              </a:defRPr>
            </a:pPr>
            <a:r>
              <a:t>03  MODEL SANDBOX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Ephemeral sessions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Run inference in an isolated environment and clear session state after every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6642080" cy="822960"/>
          </a:xfrm>
          <a:prstGeom prst="roundRect">
            <a:avLst/>
          </a:prstGeom>
          <a:solidFill>
            <a:srgbClr val="182543"/>
          </a:solidFill>
          <a:ln w="15240">
            <a:solidFill>
              <a:srgbClr val="18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THE DIFFERENCE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Policy enforcement + test separation + cryptographic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656832"/>
            <a:ext cx="16916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738A"/>
                </a:solidFill>
                <a:latin typeface="Aptos"/>
              </a:rPr>
              <a:t>WHAT THE DESIGN PROTECTS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7040880"/>
            <a:ext cx="5120640" cy="1508760"/>
          </a:xfrm>
          <a:prstGeom prst="round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D95D69"/>
                </a:solidFill>
                <a:latin typeface="Aptos"/>
              </a:rPr>
              <a:t>PRIVATE RULES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Red Team tests do not expose Blue Team defense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7040880"/>
            <a:ext cx="5120640" cy="1508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267C9"/>
                </a:solidFill>
                <a:latin typeface="Aptos"/>
              </a:rPr>
              <a:t>FRESH SESSIONS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Model context is cleared between evaluation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508992" y="7040880"/>
            <a:ext cx="5120640" cy="15087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18C7B"/>
                </a:solidFill>
                <a:latin typeface="Aptos"/>
              </a:rPr>
              <a:t>TRACEABLE RESULTS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Ledger verification makes unauthorized edits detectable.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11923776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426" y="1819646"/>
            <a:ext cx="4706684" cy="1216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09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</a:t>
            </a:r>
          </a:p>
          <a:p>
            <a:pPr algn="ctr">
              <a:lnSpc>
                <a:spcPts val="2352"/>
              </a:lnSpc>
            </a:pPr>
            <a:endParaRPr lang="en-US" sz="309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0" y="5303520"/>
            <a:ext cx="16642080" cy="1143000"/>
          </a:xfrm>
          <a:prstGeom prst="rect">
            <a:avLst/>
          </a:prstGeom>
          <a:solidFill>
            <a:srgbClr val="F4F7FC"/>
          </a:solidFill>
          <a:ln w="15240">
            <a:solidFill>
              <a:srgbClr val="DCE4F2"/>
            </a:solidFill>
          </a:ln>
        </p:spPr>
        <p:txBody>
          <a:bodyPr wrap="square" lIns="228600" tIns="137160" rIns="228600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12A99B"/>
                </a:solidFill>
                <a:latin typeface="Aptos"/>
              </a:defRPr>
            </a:pPr>
            <a:r>
              <a:t>IMPLEMENTATION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526178"/>
                </a:solidFill>
                <a:latin typeface="Aptos"/>
              </a:defRPr>
            </a:pPr>
            <a:r>
              <a:t>Python 3.11  |  FastAPI  |  Docker  |  SHA-256 ledger  |  HTML/JavaScript dashboard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526178"/>
                </a:solidFill>
                <a:latin typeface="Aptos"/>
              </a:defRPr>
            </a:pPr>
            <a:r>
              <a:t>APIs: /api/evaluate  |  /api/ledger/verify  |  /api/health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205513"/>
            <a:chOff x="0" y="0"/>
            <a:chExt cx="24384000" cy="1607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607312"/>
            </a:xfrm>
            <a:custGeom>
              <a:avLst/>
              <a:gdLst/>
              <a:ahLst/>
              <a:cxnLst/>
              <a:rect l="l" t="t" r="r" b="b"/>
              <a:pathLst>
                <a:path w="24384000" h="1607312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685800" y="2697480"/>
            <a:ext cx="2926080" cy="1920240"/>
          </a:xfrm>
          <a:prstGeom prst="roundRect">
            <a:avLst/>
          </a:prstGeom>
          <a:solidFill>
            <a:srgbClr val="FFF0F1"/>
          </a:solidFill>
          <a:ln w="15240">
            <a:solidFill>
              <a:srgbClr val="E85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E85D68"/>
                </a:solidFill>
                <a:latin typeface="Aptos"/>
              </a:defRPr>
            </a:pPr>
            <a:r>
              <a:t>01  ATTACK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202A3A"/>
                </a:solidFill>
                <a:latin typeface="Aptos"/>
              </a:defRPr>
            </a:pPr>
            <a:r>
              <a:t>Prompt sent from Red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697480"/>
            <a:ext cx="2926080" cy="1920240"/>
          </a:xfrm>
          <a:prstGeom prst="roundRect">
            <a:avLst/>
          </a:prstGeom>
          <a:solidFill>
            <a:srgbClr val="F3EEFF"/>
          </a:solidFill>
          <a:ln w="15240">
            <a:solidFill>
              <a:srgbClr val="845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8458D8"/>
                </a:solidFill>
                <a:latin typeface="Aptos"/>
              </a:defRPr>
            </a:pPr>
            <a:r>
              <a:t>02  BROKER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202A3A"/>
                </a:solidFill>
                <a:latin typeface="Aptos"/>
              </a:defRPr>
            </a:pPr>
            <a:r>
              <a:t>Policy-controlled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697480"/>
            <a:ext cx="2926080" cy="19202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7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4F70E8"/>
                </a:solidFill>
                <a:latin typeface="Aptos"/>
              </a:defRPr>
            </a:pPr>
            <a:r>
              <a:t>03  DEFENSE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202A3A"/>
                </a:solidFill>
                <a:latin typeface="Aptos"/>
              </a:defRPr>
            </a:pPr>
            <a:r>
              <a:t>Guardrail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2697480"/>
            <a:ext cx="2926080" cy="1920240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2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12A99B"/>
                </a:solidFill>
                <a:latin typeface="Aptos"/>
              </a:defRPr>
            </a:pPr>
            <a:r>
              <a:t>04  MODEL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202A3A"/>
                </a:solidFill>
                <a:latin typeface="Aptos"/>
              </a:defRPr>
            </a:pPr>
            <a:r>
              <a:t>Isolated inference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50440" y="2697480"/>
            <a:ext cx="2926080" cy="1920240"/>
          </a:xfrm>
          <a:prstGeom prst="roundRect">
            <a:avLst/>
          </a:prstGeom>
          <a:solidFill>
            <a:srgbClr val="FFF6E3"/>
          </a:solidFill>
          <a:ln w="15240">
            <a:solidFill>
              <a:srgbClr val="D9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D99720"/>
                </a:solidFill>
                <a:latin typeface="Aptos"/>
              </a:defRPr>
            </a:pPr>
            <a:r>
              <a:t>05  EVIDENCE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202A3A"/>
                </a:solidFill>
                <a:latin typeface="Aptos"/>
              </a:defRPr>
            </a:pPr>
            <a:r>
              <a:t>Hash-linked audit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337560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2A99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3337560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2A99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3337560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2A99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83512" y="3337560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2A99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611112"/>
            <a:ext cx="16916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738A"/>
                </a:solidFill>
                <a:latin typeface="Aptos"/>
              </a:rPr>
              <a:t>NETWORK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7040880"/>
            <a:ext cx="5120640" cy="1508760"/>
          </a:xfrm>
          <a:prstGeom prst="round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D95D69"/>
                </a:solidFill>
                <a:latin typeface="Aptos"/>
              </a:rPr>
              <a:t>RED-NET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Adversarial test traffic; no direct Blue Team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7040880"/>
            <a:ext cx="5120640" cy="1508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267C9"/>
                </a:solidFill>
                <a:latin typeface="Aptos"/>
              </a:rPr>
              <a:t>BLUE-NET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Guardrail logic stays within its isolated zone.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08992" y="7040880"/>
            <a:ext cx="5120640" cy="15087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18C7B"/>
                </a:solidFill>
                <a:latin typeface="Aptos"/>
              </a:rPr>
              <a:t>LLM-NET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Brokered inference runs in an ephemeral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770136"/>
            <a:ext cx="9064066" cy="67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09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RESEARCH/ANALYSIS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2249424"/>
            <a:ext cx="8229600" cy="3429000"/>
          </a:xfrm>
          <a:prstGeom prst="rect">
            <a:avLst/>
          </a:prstGeom>
          <a:solidFill>
            <a:srgbClr val="EEF2FF"/>
          </a:solidFill>
          <a:ln w="15240">
            <a:solidFill>
              <a:srgbClr val="CCD6FB"/>
            </a:solidFill>
          </a:ln>
        </p:spPr>
        <p:txBody>
          <a:bodyPr wrap="square" lIns="274320" tIns="137160" rIns="274320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12A99B"/>
                </a:solidFill>
                <a:latin typeface="Aptos"/>
              </a:defRPr>
            </a:pPr>
            <a:r>
              <a:t>WHO NEEDS IT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202A3A"/>
                </a:solidFill>
                <a:latin typeface="Aptos"/>
              </a:defRPr>
            </a:pPr>
            <a:r>
              <a:t>AI model teams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526178"/>
                </a:solidFill>
                <a:latin typeface="Aptos"/>
              </a:defRPr>
            </a:pPr>
            <a:r>
              <a:t>Foundation-model labs and independent evaluators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202A3A"/>
                </a:solidFill>
                <a:latin typeface="Aptos"/>
              </a:defRPr>
            </a:pPr>
            <a:r>
              <a:t>Regulated organizations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526178"/>
                </a:solidFill>
                <a:latin typeface="Aptos"/>
              </a:defRPr>
            </a:pPr>
            <a:r>
              <a:t>Healthcare, finance, defense, and other sensitive AI workloads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202A3A"/>
                </a:solidFill>
                <a:latin typeface="Aptos"/>
              </a:defRPr>
            </a:pPr>
            <a:r>
              <a:t>Cloud AI platforms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526178"/>
                </a:solidFill>
                <a:latin typeface="Aptos"/>
              </a:defRPr>
            </a:pPr>
            <a:r>
              <a:t>Teams building on managed model services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205513"/>
            <a:chOff x="0" y="0"/>
            <a:chExt cx="24384000" cy="1607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607312"/>
            </a:xfrm>
            <a:custGeom>
              <a:avLst/>
              <a:gdLst/>
              <a:ahLst/>
              <a:cxnLst/>
              <a:rect l="l" t="t" r="r" b="b"/>
              <a:pathLst>
                <a:path w="24384000" h="1607312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9418320" y="2249424"/>
            <a:ext cx="7955279" cy="3429000"/>
          </a:xfrm>
          <a:prstGeom prst="roundRect">
            <a:avLst/>
          </a:prstGeom>
          <a:solidFill>
            <a:srgbClr val="F3EEFF"/>
          </a:solidFill>
          <a:ln w="15240">
            <a:solidFill>
              <a:srgbClr val="845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8458D8"/>
                </a:solidFill>
                <a:latin typeface="Aptos"/>
              </a:defRPr>
            </a:pPr>
            <a:r>
              <a:t>MARKET SIGNAL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2900" b="1">
                <a:solidFill>
                  <a:srgbClr val="8458D8"/>
                </a:solidFill>
                <a:latin typeface="Aptos"/>
              </a:defRPr>
            </a:pPr>
            <a:r>
              <a:t>$1.8B+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AI governance, risk &amp; compliance market projection by 2030*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*Planning estimate from the supplied guide; cite the source before external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989320"/>
            <a:ext cx="16642080" cy="731520"/>
          </a:xfrm>
          <a:prstGeom prst="roundRect">
            <a:avLst/>
          </a:prstGeom>
          <a:solidFill>
            <a:srgbClr val="182543"/>
          </a:solidFill>
          <a:ln w="15240">
            <a:solidFill>
              <a:srgbClr val="18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BUSINESS MODEL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Usage-based evaluations  |  enterprise self-hosted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803136"/>
            <a:ext cx="16916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738A"/>
                </a:solidFill>
                <a:latin typeface="Aptos"/>
              </a:rPr>
              <a:t>CUSTOMER VALUE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7187184"/>
            <a:ext cx="5120640" cy="1508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267C9"/>
                </a:solidFill>
                <a:latin typeface="Aptos"/>
              </a:rPr>
              <a:t>WHO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AI model teams and organizations handling sensitive workloads.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7187184"/>
            <a:ext cx="5120640" cy="1508760"/>
          </a:xfrm>
          <a:prstGeom prst="roundRect">
            <a:avLst/>
          </a:prstGeom>
          <a:solidFill>
            <a:srgbClr val="FF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B7791F"/>
                </a:solidFill>
                <a:latin typeface="Aptos"/>
              </a:rPr>
              <a:t>NEED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Adversarial evaluation without cross-tenant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508992" y="7187184"/>
            <a:ext cx="5120640" cy="150876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7957B5"/>
                </a:solidFill>
                <a:latin typeface="Aptos"/>
              </a:rPr>
              <a:t>DELIVERY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Usage-based evaluations or enterprise self-hosted deployment.</a:t>
            </a:r>
          </a:p>
        </p:txBody>
      </p:sp>
      <p:sp>
        <p:nvSpPr>
          <p:cNvPr id="12" name="Chevron 11"/>
          <p:cNvSpPr/>
          <p:nvPr/>
        </p:nvSpPr>
        <p:spPr>
          <a:xfrm>
            <a:off x="5998464" y="7749540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11923776" y="7749540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138648" y="1489339"/>
            <a:ext cx="9064066" cy="1216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09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  <a:p>
            <a:pPr algn="ctr">
              <a:lnSpc>
                <a:spcPts val="2352"/>
              </a:lnSpc>
            </a:pPr>
            <a:endParaRPr lang="en-US" sz="309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31520" y="1554480"/>
            <a:ext cx="16642080" cy="777240"/>
          </a:xfrm>
          <a:prstGeom prst="rect">
            <a:avLst/>
          </a:prstGeom>
          <a:solidFill>
            <a:srgbClr val="F4F7FC"/>
          </a:solidFill>
          <a:ln w="15240">
            <a:solidFill>
              <a:srgbClr val="DCE4F2"/>
            </a:solidFill>
          </a:ln>
        </p:spPr>
        <p:txBody>
          <a:bodyPr wrap="square" lIns="228600" tIns="137160" rIns="228600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NEXT STEPS ? expand from verified isolation to a production-grade evaluation workflow.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205513"/>
            <a:chOff x="0" y="0"/>
            <a:chExt cx="24384000" cy="1607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607312"/>
            </a:xfrm>
            <a:custGeom>
              <a:avLst/>
              <a:gdLst/>
              <a:ahLst/>
              <a:cxnLst/>
              <a:rect l="l" t="t" r="r" b="b"/>
              <a:pathLst>
                <a:path w="24384000" h="1607312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731520" y="2880360"/>
            <a:ext cx="3840480" cy="2331720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2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12A99B"/>
                </a:solidFill>
                <a:latin typeface="Aptos"/>
              </a:defRPr>
            </a:pPr>
            <a:r>
              <a:t>NOW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Reliable alerts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Surface jailbreaks, leaks, and policy events in the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880360"/>
            <a:ext cx="3840480" cy="2331720"/>
          </a:xfrm>
          <a:prstGeom prst="roundRect">
            <a:avLst/>
          </a:prstGeom>
          <a:solidFill>
            <a:srgbClr val="FFF6E3"/>
          </a:solidFill>
          <a:ln w="15240">
            <a:solidFill>
              <a:srgbClr val="D9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D99720"/>
                </a:solidFill>
                <a:latin typeface="Aptos"/>
              </a:defRPr>
            </a:pPr>
            <a:r>
              <a:t>NEXT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Blind evaluation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Sealed queues and canary-leak demonstration.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880360"/>
            <a:ext cx="3840480" cy="23317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7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4F70E8"/>
                </a:solidFill>
                <a:latin typeface="Aptos"/>
              </a:defRPr>
            </a:pPr>
            <a:r>
              <a:t>THEN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CI/CD gates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Risk thresholds for pre-deployment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75920" y="2880360"/>
            <a:ext cx="3840480" cy="2331720"/>
          </a:xfrm>
          <a:prstGeom prst="roundRect">
            <a:avLst/>
          </a:prstGeom>
          <a:solidFill>
            <a:srgbClr val="F3EEFF"/>
          </a:solidFill>
          <a:ln w="15240">
            <a:solidFill>
              <a:srgbClr val="845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8458D8"/>
                </a:solidFill>
                <a:latin typeface="Aptos"/>
              </a:defRPr>
            </a:pPr>
            <a:r>
              <a:t>SCALE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Stronger isolation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526178"/>
                </a:solidFill>
                <a:latin typeface="Aptos"/>
              </a:defRPr>
            </a:pPr>
            <a:r>
              <a:t>Evaluate eBPF, Kubernetes, and microVM options.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6642080" cy="731520"/>
          </a:xfrm>
          <a:prstGeom prst="roundRect">
            <a:avLst/>
          </a:prstGeom>
          <a:solidFill>
            <a:srgbClr val="182543"/>
          </a:solidFill>
          <a:ln w="15240">
            <a:solidFill>
              <a:srgbClr val="18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ROADMAP NOTE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Canary leak detection is a proposed showcase, not a currently verified capability.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656832"/>
            <a:ext cx="16916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738A"/>
                </a:solidFill>
                <a:latin typeface="Aptos"/>
              </a:rPr>
              <a:t>FROM PROTOTYPE TO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7040880"/>
            <a:ext cx="5120640" cy="15087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18C7B"/>
                </a:solidFill>
                <a:latin typeface="Aptos"/>
              </a:rPr>
              <a:t>BASELINE  |  DEMO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Isolated test flow and ledger checks are implemented.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7040880"/>
            <a:ext cx="5120640" cy="1508760"/>
          </a:xfrm>
          <a:prstGeom prst="roundRect">
            <a:avLst/>
          </a:prstGeom>
          <a:solidFill>
            <a:srgbClr val="FF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B7791F"/>
                </a:solidFill>
                <a:latin typeface="Aptos"/>
              </a:rPr>
              <a:t>PILOT  |  PLANNED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Add blind evaluation and risk-based CI/CD gates.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08992" y="7040880"/>
            <a:ext cx="5120640" cy="150876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7957B5"/>
                </a:solidFill>
                <a:latin typeface="Aptos"/>
              </a:rPr>
              <a:t>SCALE  |  FUTURE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Evaluate eBPF, Kubernetes, and microVM isolation.</a:t>
            </a:r>
          </a:p>
        </p:txBody>
      </p:sp>
      <p:sp>
        <p:nvSpPr>
          <p:cNvPr id="15" name="Chevron 14"/>
          <p:cNvSpPr/>
          <p:nvPr/>
        </p:nvSpPr>
        <p:spPr>
          <a:xfrm>
            <a:off x="5998464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11923776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37306" y="1458325"/>
            <a:ext cx="9064066" cy="1216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09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EXTRA(OPTIONAL)</a:t>
            </a:r>
          </a:p>
          <a:p>
            <a:pPr algn="ctr">
              <a:lnSpc>
                <a:spcPts val="2352"/>
              </a:lnSpc>
            </a:pPr>
            <a:endParaRPr lang="en-US" sz="309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31520" y="1554480"/>
            <a:ext cx="16642080" cy="566928"/>
          </a:xfrm>
          <a:prstGeom prst="rect">
            <a:avLst/>
          </a:prstGeom>
          <a:solidFill>
            <a:srgbClr val="E8F7EF"/>
          </a:solidFill>
          <a:ln w="15240">
            <a:solidFill>
              <a:srgbClr val="BFE7CD"/>
            </a:solidFill>
          </a:ln>
        </p:spPr>
        <p:txBody>
          <a:bodyPr wrap="square" lIns="219456" tIns="137160" rIns="219456" bIns="137160" rtlCol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202A3A"/>
                </a:solidFill>
                <a:latin typeface="Aptos"/>
              </a:defRPr>
            </a:pPr>
            <a:r>
              <a:t>VERIFIED IN THIS RUN ? five backend isolation checks passed.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205513"/>
            <a:chOff x="0" y="0"/>
            <a:chExt cx="24384000" cy="1607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607312"/>
            </a:xfrm>
            <a:custGeom>
              <a:avLst/>
              <a:gdLst/>
              <a:ahLst/>
              <a:cxnLst/>
              <a:rect l="l" t="t" r="r" b="b"/>
              <a:pathLst>
                <a:path w="24384000" h="1607312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731520" y="2468880"/>
            <a:ext cx="2980944" cy="170078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BFE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400" b="1">
                <a:solidFill>
                  <a:srgbClr val="17855D"/>
                </a:solidFill>
                <a:latin typeface="Aptos"/>
              </a:defRPr>
            </a:pPr>
            <a:r>
              <a:t>PASS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202A3A"/>
                </a:solidFill>
                <a:latin typeface="Aptos"/>
              </a:defRPr>
            </a:pPr>
            <a:r>
              <a:t>LEDGER</a:t>
            </a:r>
            <a:br/>
            <a:r>
              <a:t>INTEGRITY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000">
                <a:solidFill>
                  <a:srgbClr val="526178"/>
                </a:solidFill>
                <a:latin typeface="Aptos"/>
              </a:defRPr>
            </a:pPr>
            <a:r>
              <a:t>Hash chain validates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468880"/>
            <a:ext cx="2980944" cy="170078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BFE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400" b="1">
                <a:solidFill>
                  <a:srgbClr val="17855D"/>
                </a:solidFill>
                <a:latin typeface="Aptos"/>
              </a:defRPr>
            </a:pPr>
            <a:r>
              <a:t>PASS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202A3A"/>
                </a:solidFill>
                <a:latin typeface="Aptos"/>
              </a:defRPr>
            </a:pPr>
            <a:r>
              <a:t>TAMPER</a:t>
            </a:r>
            <a:br/>
            <a:r>
              <a:t>DETECTION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000">
                <a:solidFill>
                  <a:srgbClr val="526178"/>
                </a:solidFill>
                <a:latin typeface="Aptos"/>
              </a:defRPr>
            </a:pPr>
            <a:r>
              <a:t>Altered entry flagged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468880"/>
            <a:ext cx="2980944" cy="170078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BFE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400" b="1">
                <a:solidFill>
                  <a:srgbClr val="17855D"/>
                </a:solidFill>
                <a:latin typeface="Aptos"/>
              </a:defRPr>
            </a:pPr>
            <a:r>
              <a:t>PASS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202A3A"/>
                </a:solidFill>
                <a:latin typeface="Aptos"/>
              </a:defRPr>
            </a:pPr>
            <a:r>
              <a:t>RED / BLUE</a:t>
            </a:r>
            <a:br/>
            <a:r>
              <a:t>ISOLATION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000">
                <a:solidFill>
                  <a:srgbClr val="526178"/>
                </a:solidFill>
                <a:latin typeface="Aptos"/>
              </a:defRPr>
            </a:pPr>
            <a:r>
              <a:t>Rules stay hidden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44200" y="2468880"/>
            <a:ext cx="2980944" cy="170078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BFE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400" b="1">
                <a:solidFill>
                  <a:srgbClr val="17855D"/>
                </a:solidFill>
                <a:latin typeface="Aptos"/>
              </a:defRPr>
            </a:pPr>
            <a:r>
              <a:t>PASS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202A3A"/>
                </a:solidFill>
                <a:latin typeface="Aptos"/>
              </a:defRPr>
            </a:pPr>
            <a:r>
              <a:t>SESSION</a:t>
            </a:r>
            <a:br/>
            <a:r>
              <a:t>PURGE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000">
                <a:solidFill>
                  <a:srgbClr val="526178"/>
                </a:solidFill>
                <a:latin typeface="Aptos"/>
              </a:defRPr>
            </a:pPr>
            <a:r>
              <a:t>Context cleaned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081760" y="2468880"/>
            <a:ext cx="2980944" cy="170078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BFE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400" b="1">
                <a:solidFill>
                  <a:srgbClr val="17855D"/>
                </a:solidFill>
                <a:latin typeface="Aptos"/>
              </a:defRPr>
            </a:pPr>
            <a:r>
              <a:t>PASS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202A3A"/>
                </a:solidFill>
                <a:latin typeface="Aptos"/>
              </a:defRPr>
            </a:pPr>
            <a:r>
              <a:t>PIPELINE</a:t>
            </a:r>
            <a:br/>
            <a:r>
              <a:t>VERIFY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000">
                <a:solidFill>
                  <a:srgbClr val="526178"/>
                </a:solidFill>
                <a:latin typeface="Aptos"/>
              </a:defRPr>
            </a:pPr>
            <a:r>
              <a:t>Evaluation completes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16642080" cy="1280160"/>
          </a:xfrm>
          <a:prstGeom prst="roundRect">
            <a:avLst/>
          </a:prstGeom>
          <a:solidFill>
            <a:srgbClr val="FFF6E3"/>
          </a:solidFill>
          <a:ln w="15240">
            <a:solidFill>
              <a:srgbClr val="D9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300" b="1">
                <a:solidFill>
                  <a:srgbClr val="D99720"/>
                </a:solidFill>
                <a:latin typeface="Aptos"/>
              </a:defRPr>
            </a:pPr>
            <a:r>
              <a:t>PROPOSED SHOWCASE ? SYNTHETIC CANARY LEAK TEST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202A3A"/>
                </a:solidFill>
                <a:latin typeface="Aptos"/>
              </a:defRPr>
            </a:pPr>
            <a:r>
              <a:t>Seed a fake secret, trigger a controlled leak path, flag the source, and redact the value for unauthorized viewers.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defRPr sz="1200">
                <a:solidFill>
                  <a:srgbClr val="526178"/>
                </a:solidFill>
                <a:latin typeface="Aptos"/>
              </a:defRPr>
            </a:pPr>
            <a:r>
              <a:t>Concept only; not included in the five checks above.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16642080" cy="566928"/>
          </a:xfrm>
          <a:prstGeom prst="roundRect">
            <a:avLst/>
          </a:prstGeom>
          <a:solidFill>
            <a:srgbClr val="182543"/>
          </a:solidFill>
          <a:ln w="15240">
            <a:solidFill>
              <a:srgbClr val="18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DEMO: live dashboard + terminal run of the five backed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656832"/>
            <a:ext cx="16916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738A"/>
                </a:solidFill>
                <a:latin typeface="Aptos"/>
              </a:rPr>
              <a:t>EVIDENCE TRACE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7040880"/>
            <a:ext cx="5120640" cy="1508760"/>
          </a:xfrm>
          <a:prstGeom prst="round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D95D69"/>
                </a:solidFill>
                <a:latin typeface="Aptos"/>
              </a:rPr>
              <a:t>01  RUN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Execute the adversarial evaluation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7040880"/>
            <a:ext cx="5120640" cy="1508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267C9"/>
                </a:solidFill>
                <a:latin typeface="Aptos"/>
              </a:rPr>
              <a:t>02  CHECK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Validate team isolation and ledger integrity.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08992" y="7040880"/>
            <a:ext cx="5120640" cy="15087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182880" bIns="91440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18C7B"/>
                </a:solidFill>
                <a:latin typeface="Aptos"/>
              </a:rPr>
              <a:t>03  RESET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82543"/>
                </a:solidFill>
                <a:latin typeface="Aptos"/>
              </a:rPr>
              <a:t>Clear model session state after the run.</a:t>
            </a:r>
          </a:p>
        </p:txBody>
      </p:sp>
      <p:sp>
        <p:nvSpPr>
          <p:cNvPr id="17" name="Chevron 16"/>
          <p:cNvSpPr/>
          <p:nvPr/>
        </p:nvSpPr>
        <p:spPr>
          <a:xfrm>
            <a:off x="5998464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11923776" y="7603236"/>
            <a:ext cx="310896" cy="384048"/>
          </a:xfrm>
          <a:prstGeom prst="chevron">
            <a:avLst/>
          </a:prstGeom>
          <a:solidFill>
            <a:srgbClr val="DC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39139" y="5736498"/>
            <a:ext cx="8898074" cy="2077107"/>
          </a:xfrm>
          <a:custGeom>
            <a:avLst/>
            <a:gdLst/>
            <a:ahLst/>
            <a:cxnLst/>
            <a:rect l="l" t="t" r="r" b="b"/>
            <a:pathLst>
              <a:path w="8898074" h="2077107">
                <a:moveTo>
                  <a:pt x="0" y="0"/>
                </a:moveTo>
                <a:lnTo>
                  <a:pt x="8898074" y="0"/>
                </a:lnTo>
                <a:lnTo>
                  <a:pt x="8898074" y="2077107"/>
                </a:lnTo>
                <a:lnTo>
                  <a:pt x="0" y="2077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54005" y="5409219"/>
            <a:ext cx="12268352" cy="1305430"/>
          </a:xfrm>
          <a:custGeom>
            <a:avLst/>
            <a:gdLst/>
            <a:ahLst/>
            <a:cxnLst/>
            <a:rect l="l" t="t" r="r" b="b"/>
            <a:pathLst>
              <a:path w="12268352" h="1305430">
                <a:moveTo>
                  <a:pt x="0" y="0"/>
                </a:moveTo>
                <a:lnTo>
                  <a:pt x="12268352" y="0"/>
                </a:lnTo>
                <a:lnTo>
                  <a:pt x="12268352" y="1305430"/>
                </a:lnTo>
                <a:lnTo>
                  <a:pt x="0" y="1305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7119123" y="-7119123"/>
            <a:ext cx="4088378" cy="18326624"/>
            <a:chOff x="0" y="0"/>
            <a:chExt cx="5451170" cy="244354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51221" cy="24435563"/>
            </a:xfrm>
            <a:custGeom>
              <a:avLst/>
              <a:gdLst/>
              <a:ahLst/>
              <a:cxnLst/>
              <a:rect l="l" t="t" r="r" b="b"/>
              <a:pathLst>
                <a:path w="5451221" h="24435563">
                  <a:moveTo>
                    <a:pt x="0" y="0"/>
                  </a:moveTo>
                  <a:lnTo>
                    <a:pt x="5451221" y="0"/>
                  </a:lnTo>
                  <a:lnTo>
                    <a:pt x="5451221" y="24435563"/>
                  </a:lnTo>
                  <a:lnTo>
                    <a:pt x="0" y="2443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248" r="-3687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18678" y="296228"/>
            <a:ext cx="7240343" cy="791928"/>
            <a:chOff x="0" y="0"/>
            <a:chExt cx="9653791" cy="10559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53778" cy="1055878"/>
            </a:xfrm>
            <a:custGeom>
              <a:avLst/>
              <a:gdLst/>
              <a:ahLst/>
              <a:cxnLst/>
              <a:rect l="l" t="t" r="r" b="b"/>
              <a:pathLst>
                <a:path w="9653778" h="1055878">
                  <a:moveTo>
                    <a:pt x="0" y="0"/>
                  </a:moveTo>
                  <a:lnTo>
                    <a:pt x="9653778" y="0"/>
                  </a:lnTo>
                  <a:lnTo>
                    <a:pt x="9653778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20574" y="296228"/>
            <a:ext cx="5599605" cy="791928"/>
            <a:chOff x="0" y="0"/>
            <a:chExt cx="7466140" cy="10559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66076" cy="1055878"/>
            </a:xfrm>
            <a:custGeom>
              <a:avLst/>
              <a:gdLst/>
              <a:ahLst/>
              <a:cxnLst/>
              <a:rect l="l" t="t" r="r" b="b"/>
              <a:pathLst>
                <a:path w="7466076" h="1055878">
                  <a:moveTo>
                    <a:pt x="0" y="0"/>
                  </a:moveTo>
                  <a:lnTo>
                    <a:pt x="7466076" y="0"/>
                  </a:lnTo>
                  <a:lnTo>
                    <a:pt x="7466076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2"/>
              </a:stretch>
            </a:blipFill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30BFB8B-5840-F3DA-0DB8-E5E56C7F88FB}"/>
              </a:ext>
            </a:extLst>
          </p:cNvPr>
          <p:cNvSpPr/>
          <p:nvPr/>
        </p:nvSpPr>
        <p:spPr>
          <a:xfrm>
            <a:off x="1537593" y="4681835"/>
            <a:ext cx="15212819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726</Words>
  <Application>Microsoft Office PowerPoint</Application>
  <PresentationFormat>Custom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Cascadia Code SemiBold</vt:lpstr>
      <vt:lpstr>Calibri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HackInHills-</dc:title>
  <cp:lastModifiedBy>Likhitha Naik</cp:lastModifiedBy>
  <cp:revision>4</cp:revision>
  <dcterms:created xsi:type="dcterms:W3CDTF">2006-08-16T00:00:00Z</dcterms:created>
  <dcterms:modified xsi:type="dcterms:W3CDTF">2026-10-14T19:40:21Z</dcterms:modified>
  <dc:identifier>DAHX0eJ83Ys</dc:identifier>
</cp:coreProperties>
</file>