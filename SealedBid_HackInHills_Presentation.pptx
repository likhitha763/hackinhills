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/>
            </a:pPr>
            <a:r>
              <a:t>TEAM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/>
            </a:pPr>
            <a:r>
              <a:t>SealedBid Team</a:t>
            </a:r>
          </a:p>
          <a:p>
            <a:pPr>
              <a:defRPr sz="2000"/>
            </a:pPr>
            <a:r>
              <a:t>Member 1 ? Full-Stack &amp; System Architect</a:t>
            </a:r>
          </a:p>
          <a:p>
            <a:pPr>
              <a:defRPr sz="2000"/>
            </a:pPr>
            <a:r>
              <a:t>Member 2 ? Security, DevOps &amp; Sandbox Engineer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/>
            </a:pPr>
            <a:r>
              <a:t>PROBLEM STATEMENT &amp; THEME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/>
            </a:pPr>
            <a:r>
              <a:t>Problem</a:t>
            </a:r>
          </a:p>
          <a:p>
            <a:pPr>
              <a:defRPr sz="1600"/>
            </a:pPr>
            <a:r>
              <a:t>Adversarial LLM testing can expose proprietary prompts, sensitive data, and hidden guardrail logic.</a:t>
            </a:r>
          </a:p>
          <a:p>
            <a:pPr>
              <a:defRPr sz="2000"/>
            </a:pPr>
            <a:r>
              <a:t>Impact</a:t>
            </a:r>
          </a:p>
          <a:p>
            <a:pPr>
              <a:defRPr sz="1600"/>
            </a:pPr>
            <a:r>
              <a:t>Cross-tenant prompt leakage and benchmark contamination create trust, compliance, and audit risks.</a:t>
            </a:r>
          </a:p>
          <a:p>
            <a:pPr>
              <a:defRPr sz="2000"/>
            </a:pPr>
            <a:r>
              <a:t>Theme Alignment</a:t>
            </a:r>
          </a:p>
          <a:p>
            <a:pPr>
              <a:defRPr sz="1600"/>
            </a:pPr>
            <a:r>
              <a:t>SealedBid addresses Hack In Hills 2026 Problem Statement 04 with a zero-trust, multi-tenant evaluation mesh for AI safety testing.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/>
            </a:pPr>
            <a:r>
              <a:t>SOLUTION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/>
            </a:pPr>
            <a:r>
              <a:t>Solution Overview</a:t>
            </a:r>
          </a:p>
          <a:p>
            <a:pPr>
              <a:defRPr sz="1600"/>
            </a:pPr>
            <a:r>
              <a:t>SealedBid is an isolated multi-tenant adversarial evaluation platform for Red Team, Blue Team, and Client LLM testing.</a:t>
            </a:r>
          </a:p>
          <a:p>
            <a:pPr>
              <a:defRPr sz="2000"/>
            </a:pPr>
            <a:r>
              <a:t>Key Features</a:t>
            </a:r>
          </a:p>
          <a:p>
            <a:pPr>
              <a:defRPr sz="2000"/>
            </a:pPr>
            <a:r>
              <a:t>Micro-segmented sandboxing across red, blue, and model networks</a:t>
            </a:r>
          </a:p>
          <a:p>
            <a:pPr>
              <a:defRPr sz="2000"/>
            </a:pPr>
            <a:r>
              <a:t>Stateless session isolation and KV-cache purge between test runs</a:t>
            </a:r>
          </a:p>
          <a:p>
            <a:pPr>
              <a:defRPr sz="2000"/>
            </a:pPr>
            <a:r>
              <a:t>Tamper-evident SHA-256 hash-chain audit ledger</a:t>
            </a:r>
          </a:p>
          <a:p>
            <a:pPr>
              <a:defRPr sz="2000"/>
            </a:pPr>
            <a:r>
              <a:t>Real-time telemetry dashboard for attacks, defenses, and evidence</a:t>
            </a:r>
          </a:p>
          <a:p>
            <a:pPr>
              <a:defRPr sz="2000"/>
            </a:pPr>
            <a:r>
              <a:t>Unique Value</a:t>
            </a:r>
          </a:p>
          <a:p>
            <a:pPr>
              <a:defRPr sz="1600"/>
            </a:pPr>
            <a:r>
              <a:t>Zero-trust architecture with measurable security guarantees and cryptographic evidence.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/>
            </a:pPr>
            <a:r>
              <a:t>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/>
            </a:pPr>
            <a:r>
              <a:t>Tech Stack</a:t>
            </a:r>
          </a:p>
          <a:p>
            <a:pPr>
              <a:defRPr sz="1600"/>
            </a:pPr>
            <a:r>
              <a:t>Python 3.11, FastAPI, Docker, SHA-256 ledger, HTML/JavaScript dashboard</a:t>
            </a:r>
          </a:p>
          <a:p>
            <a:pPr>
              <a:defRPr sz="2000"/>
            </a:pPr>
            <a:r>
              <a:t>Data Flow</a:t>
            </a:r>
          </a:p>
          <a:p>
            <a:pPr>
              <a:defRPr sz="2000"/>
            </a:pPr>
            <a:r>
              <a:t>1. Red Team sends adversarial payloads to the broker</a:t>
            </a:r>
          </a:p>
          <a:p>
            <a:pPr>
              <a:defRPr sz="2000"/>
            </a:pPr>
            <a:r>
              <a:t>2. Blue Team guardrails validate and filter traffic</a:t>
            </a:r>
          </a:p>
          <a:p>
            <a:pPr>
              <a:defRPr sz="2000"/>
            </a:pPr>
            <a:r>
              <a:t>3. Client LLM runs in an isolated model sandbox</a:t>
            </a:r>
          </a:p>
          <a:p>
            <a:pPr>
              <a:defRPr sz="2000"/>
            </a:pPr>
            <a:r>
              <a:t>4. Results are sealed into the tamper-evident ledger</a:t>
            </a:r>
          </a:p>
          <a:p>
            <a:pPr>
              <a:defRPr sz="2000"/>
            </a:pPr>
            <a:r>
              <a:t>Key APIs</a:t>
            </a:r>
          </a:p>
          <a:p>
            <a:pPr>
              <a:defRPr sz="2000"/>
            </a:pPr>
            <a:r>
              <a:t>/api/evaluate</a:t>
            </a:r>
          </a:p>
          <a:p>
            <a:pPr>
              <a:defRPr sz="2000"/>
            </a:pPr>
            <a:r>
              <a:t>/api/ledger/verify</a:t>
            </a:r>
          </a:p>
          <a:p>
            <a:pPr>
              <a:defRPr sz="2000"/>
            </a:pPr>
            <a:r>
              <a:t>/api/health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/>
            </a:pPr>
            <a:r>
              <a:t>MARKET RESEARCH /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/>
            </a:pPr>
            <a:r>
              <a:t>Target Users</a:t>
            </a:r>
          </a:p>
          <a:p>
            <a:pPr>
              <a:defRPr sz="2000"/>
            </a:pPr>
            <a:r>
              <a:t>AI model labs, security teams, and regulated enterprise deployments</a:t>
            </a:r>
          </a:p>
          <a:p>
            <a:pPr>
              <a:defRPr sz="2000"/>
            </a:pPr>
            <a:r>
              <a:t>Market Size</a:t>
            </a:r>
          </a:p>
          <a:p>
            <a:pPr>
              <a:defRPr sz="1600"/>
            </a:pPr>
            <a:r>
              <a:t>AI governance, risk, and compliance market projected beyond $1.8B+ by 2030</a:t>
            </a:r>
          </a:p>
          <a:p>
            <a:pPr>
              <a:defRPr sz="2000"/>
            </a:pPr>
            <a:r>
              <a:t>Potential Revenue Model</a:t>
            </a:r>
          </a:p>
          <a:p>
            <a:pPr>
              <a:defRPr sz="2000"/>
            </a:pPr>
            <a:r>
              <a:t>Usage-based B2B SaaS and enterprise self-hosted deployment</a:t>
            </a:r>
          </a:p>
          <a:p>
            <a:pPr>
              <a:defRPr sz="2000"/>
            </a:pPr>
            <a:r>
              <a:t>Expected Growth</a:t>
            </a:r>
          </a:p>
          <a:p>
            <a:pPr>
              <a:defRPr sz="2000"/>
            </a:pPr>
            <a:r>
              <a:t>Driven by EU AI Act, NIST AI RMF, and ISO/IEC 42001 adoption.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/>
            </a:pPr>
            <a:r>
              <a:t>FUTURE SCOPE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/>
            </a:pPr>
            <a:r>
              <a:t>Mobile &amp; Remote Alerts</a:t>
            </a:r>
          </a:p>
          <a:p>
            <a:pPr>
              <a:defRPr sz="2000"/>
            </a:pPr>
            <a:r>
              <a:t>Real-time alerts for jailbreaks, leaks, and policy violations</a:t>
            </a:r>
          </a:p>
          <a:p>
            <a:pPr>
              <a:defRPr sz="2000"/>
            </a:pPr>
            <a:r>
              <a:t>Adaptive Red Teaming</a:t>
            </a:r>
          </a:p>
          <a:p>
            <a:pPr>
              <a:defRPr sz="2000"/>
            </a:pPr>
            <a:r>
              <a:t>Autonomous attack generation to discover new model vulnerabilities</a:t>
            </a:r>
          </a:p>
          <a:p>
            <a:pPr>
              <a:defRPr sz="2000"/>
            </a:pPr>
            <a:r>
              <a:t>Enterprise Integration</a:t>
            </a:r>
          </a:p>
          <a:p>
            <a:pPr>
              <a:defRPr sz="2000"/>
            </a:pPr>
            <a:r>
              <a:t>CI/CD gating and deployment-time risk evaluation</a:t>
            </a:r>
          </a:p>
          <a:p>
            <a:pPr>
              <a:defRPr sz="2000"/>
            </a:pPr>
            <a:r>
              <a:t>Scaling</a:t>
            </a:r>
          </a:p>
          <a:p>
            <a:pPr>
              <a:defRPr sz="2000"/>
            </a:pPr>
            <a:r>
              <a:t>Kubernetes, eBPF, and microVM-based hardening for larger workloads.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/>
            </a:pPr>
            <a:r>
              <a:t>EXTRA (OPTIONAL)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/>
            </a:pPr>
            <a:r>
              <a:t>Validation Highlights</a:t>
            </a:r>
          </a:p>
          <a:p>
            <a:pPr>
              <a:defRPr sz="2000"/>
            </a:pPr>
            <a:r>
              <a:t>test_ledger_integrity: PASSED</a:t>
            </a:r>
          </a:p>
          <a:p>
            <a:pPr>
              <a:defRPr sz="2000"/>
            </a:pPr>
            <a:r>
              <a:t>test_tamper_detection: PASSED</a:t>
            </a:r>
          </a:p>
          <a:p>
            <a:pPr>
              <a:defRPr sz="2000"/>
            </a:pPr>
            <a:r>
              <a:t>test_red_blue_isolation: PASSED</a:t>
            </a:r>
          </a:p>
          <a:p>
            <a:pPr>
              <a:defRPr sz="2000"/>
            </a:pPr>
            <a:r>
              <a:t>test_model_kv_cache_purge: PASSED</a:t>
            </a:r>
          </a:p>
          <a:p>
            <a:pPr>
              <a:defRPr sz="2000"/>
            </a:pPr>
            <a:r>
              <a:t>Visuals to Include</a:t>
            </a:r>
          </a:p>
          <a:p>
            <a:pPr>
              <a:defRPr sz="2000"/>
            </a:pPr>
            <a:r>
              <a:t>Live SealedBid dashboard screenshot</a:t>
            </a:r>
          </a:p>
          <a:p>
            <a:pPr>
              <a:defRPr sz="2000"/>
            </a:pPr>
            <a:r>
              <a:t>Terminal output from the isolation validation suite.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/>
            </a:pPr>
            <a:r>
              <a:t>THANK YOU!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/>
            </a:pPr>
            <a:r>
              <a:t>Questions &amp; Answers</a:t>
            </a:r>
          </a:p>
          <a:p>
            <a:pPr>
              <a:defRPr sz="2000"/>
            </a:pPr>
            <a:r>
              <a:t>SealedBid Repository</a:t>
            </a:r>
          </a:p>
          <a:p>
            <a:pPr>
              <a:defRPr sz="2000"/>
            </a:pPr>
            <a:r>
              <a:t>github.com/[your-handle]/[repo-name]</a:t>
            </a:r>
          </a:p>
          <a:p>
            <a:pPr>
              <a:defRPr sz="2000"/>
            </a:pPr>
            <a:r>
              <a:t>Live Demo</a:t>
            </a:r>
          </a:p>
          <a:p>
            <a:pPr>
              <a:defRPr sz="2000"/>
            </a:pPr>
            <a:r>
              <a:t>http://localhost:3000</a:t>
            </a:r>
          </a:p>
          <a:p>
            <a:pPr>
              <a:defRPr sz="2000"/>
            </a:pPr>
            <a:r>
              <a:t>Contact</a:t>
            </a:r>
          </a:p>
          <a:p>
            <a:pPr>
              <a:defRPr sz="2000"/>
            </a:pPr>
            <a:r>
              <a:t>[Member 1 Email / LinkedIn]</a:t>
            </a:r>
          </a:p>
          <a:p>
            <a:pPr>
              <a:defRPr sz="2000"/>
            </a:pPr>
            <a:r>
              <a:t>[Member 2 Email / LinkedIn]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